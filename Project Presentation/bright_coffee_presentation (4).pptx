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Monthly Revenue (R) by Store Combined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47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1A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81677.74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90954.44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1A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Revenue by Store (R)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Store Revenue</c:v>
                </c:pt>
              </c:strCache>
            </c:strRef>
          </c:tx>
          <c:spPr>
            <a:solidFill>
              <a:srgbClr val="C47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1A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Astoria</c:v>
                  </c:pt>
                  <c:pt idx="1">
                    <c:v>Hell's Kitchen</c:v>
                  </c:pt>
                  <c:pt idx="2">
                    <c:v>Lower Manhattan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154755.58</c:v>
                </c:pt>
                <c:pt idx="1">
                  <c:v>159219.28</c:v>
                </c:pt>
                <c:pt idx="2">
                  <c:v>152579.27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1A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Top 8 Products by Total Revenue (R)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C47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1A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95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0622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Barista Espresso</c:v>
                  </c:pt>
                  <c:pt idx="1">
                    <c:v>Brewed Chai tea</c:v>
                  </c:pt>
                  <c:pt idx="2">
                    <c:v>Hot chocolate</c:v>
                  </c:pt>
                  <c:pt idx="3">
                    <c:v>Gourmet brewed coffee</c:v>
                  </c:pt>
                  <c:pt idx="4">
                    <c:v>Brewed Black tea</c:v>
                  </c:pt>
                  <c:pt idx="5">
                    <c:v>Brewed herbal tea</c:v>
                  </c:pt>
                  <c:pt idx="6">
                    <c:v>Premium brewed coffee</c:v>
                  </c:pt>
                  <c:pt idx="7">
                    <c:v>Organic brewed coffee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60676.75</c:v>
                </c:pt>
                <c:pt idx="1">
                  <c:v>51507.75</c:v>
                </c:pt>
                <c:pt idx="2">
                  <c:v>48592.25</c:v>
                </c:pt>
                <c:pt idx="3">
                  <c:v>46312.8</c:v>
                </c:pt>
                <c:pt idx="4">
                  <c:v>32271.5</c:v>
                </c:pt>
                <c:pt idx="5">
                  <c:v>31556.5</c:v>
                </c:pt>
                <c:pt idx="6">
                  <c:v>25961.8</c:v>
                </c:pt>
                <c:pt idx="7">
                  <c:v>25298.8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1A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Revenue Share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7A3A"/>
              </a:solidFill>
              <a:effectLst/>
            </c:spPr>
          </c:dPt>
          <c:dPt>
            <c:idx val="1"/>
            <c:bubble3D val="0"/>
            <c:spPr>
              <a:solidFill>
                <a:srgbClr val="7B4A2D"/>
              </a:solidFill>
              <a:effectLst/>
            </c:spPr>
          </c:dPt>
          <c:dPt>
            <c:idx val="2"/>
            <c:bubble3D val="0"/>
            <c:spPr>
              <a:solidFill>
                <a:srgbClr val="5C3317"/>
              </a:solidFill>
              <a:effectLst/>
            </c:spPr>
          </c:dPt>
          <c:dPt>
            <c:idx val="3"/>
            <c:bubble3D val="0"/>
            <c:spPr>
              <a:solidFill>
                <a:srgbClr val="E8A96A"/>
              </a:solidFill>
              <a:effectLst/>
            </c:spPr>
          </c:dPt>
          <c:dPt>
            <c:idx val="4"/>
            <c:bubble3D val="0"/>
            <c:spPr>
              <a:solidFill>
                <a:srgbClr val="D4956A"/>
              </a:solidFill>
              <a:effectLst/>
            </c:spPr>
          </c:dPt>
          <c:dPt>
            <c:idx val="5"/>
            <c:bubble3D val="0"/>
            <c:spPr>
              <a:solidFill>
                <a:srgbClr val="A0622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Drk. Choc.</c:v>
                </c:pt>
                <c:pt idx="4">
                  <c:v>Coffee Beans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179388.15</c:v>
                </c:pt>
                <c:pt idx="1">
                  <c:v>131354.75</c:v>
                </c:pt>
                <c:pt idx="2">
                  <c:v>55464.77</c:v>
                </c:pt>
                <c:pt idx="3">
                  <c:v>48592.25</c:v>
                </c:pt>
                <c:pt idx="4">
                  <c:v>26469.55</c:v>
                </c:pt>
                <c:pt idx="5">
                  <c:v>24284.66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Quantity Sold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Qty Sold</c:v>
                </c:pt>
              </c:strCache>
            </c:strRef>
          </c:tx>
          <c:spPr>
            <a:solidFill>
              <a:srgbClr val="C47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1A0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C33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956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0622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Coffee</c:v>
                  </c:pt>
                  <c:pt idx="1">
                    <c:v>Tea</c:v>
                  </c:pt>
                  <c:pt idx="2">
                    <c:v>Bakery</c:v>
                  </c:pt>
                  <c:pt idx="3">
                    <c:v>Drk. Choc.</c:v>
                  </c:pt>
                  <c:pt idx="4">
                    <c:v>Flavours</c:v>
                  </c:pt>
                  <c:pt idx="5">
                    <c:v>Coffee Beans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59260</c:v>
                </c:pt>
                <c:pt idx="1">
                  <c:v>46656</c:v>
                </c:pt>
                <c:pt idx="2">
                  <c:v>15624</c:v>
                </c:pt>
                <c:pt idx="3">
                  <c:v>11713</c:v>
                </c:pt>
                <c:pt idx="4">
                  <c:v>7079</c:v>
                </c:pt>
                <c:pt idx="5">
                  <c:v>1221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C1A0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Revenue Share by Time of Day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96A"/>
              </a:solidFill>
              <a:effectLst/>
            </c:spPr>
          </c:dPt>
          <c:dPt>
            <c:idx val="1"/>
            <c:bubble3D val="0"/>
            <c:spPr>
              <a:solidFill>
                <a:srgbClr val="C47A3A"/>
              </a:solidFill>
              <a:effectLst/>
            </c:spPr>
          </c:dPt>
          <c:dPt>
            <c:idx val="2"/>
            <c:bubble3D val="0"/>
            <c:spPr>
              <a:solidFill>
                <a:srgbClr val="7B4A2D"/>
              </a:solidFill>
              <a:effectLst/>
            </c:spPr>
          </c:dPt>
          <c:dPt>
            <c:idx val="3"/>
            <c:bubble3D val="0"/>
            <c:spPr>
              <a:solidFill>
                <a:srgbClr val="5C331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Mid-Day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24</c:v>
                </c:pt>
                <c:pt idx="1">
                  <c:v>31.4</c:v>
                </c:pt>
                <c:pt idx="2">
                  <c:v>29.4</c:v>
                </c:pt>
                <c:pt idx="3">
                  <c:v>15.2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Monthly Revenue by Store (R)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rgbClr val="C47A3A"/>
            </a:solidFill>
            <a:ln w="25400" cap="flat">
              <a:solidFill>
                <a:srgbClr val="C47A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7A3A"/>
              </a:solidFill>
              <a:ln w="9525" cap="flat">
                <a:solidFill>
                  <a:srgbClr val="C47A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27313.66</c:v>
                </c:pt>
                <c:pt idx="1">
                  <c:v>25105.34</c:v>
                </c:pt>
                <c:pt idx="2">
                  <c:v>32835.43</c:v>
                </c:pt>
                <c:pt idx="3">
                  <c:v>39477.61</c:v>
                </c:pt>
                <c:pt idx="4">
                  <c:v>30023.54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rgbClr val="7B4A2D"/>
            </a:solidFill>
            <a:ln w="25400" cap="flat">
              <a:solidFill>
                <a:srgbClr val="7B4A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4A2D"/>
              </a:solidFill>
              <a:ln w="9525" cap="flat">
                <a:solidFill>
                  <a:srgbClr val="7B4A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27820.65</c:v>
                </c:pt>
                <c:pt idx="1">
                  <c:v>25719.8</c:v>
                </c:pt>
                <c:pt idx="2">
                  <c:v>33110.57</c:v>
                </c:pt>
                <c:pt idx="3">
                  <c:v>40304.14</c:v>
                </c:pt>
                <c:pt idx="4">
                  <c:v>32264.12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rgbClr val="5C3317"/>
            </a:solidFill>
            <a:ln w="25400" cap="flat">
              <a:solidFill>
                <a:srgbClr val="5C33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3317"/>
              </a:solidFill>
              <a:ln w="9525" cap="flat">
                <a:solidFill>
                  <a:srgbClr val="5C33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26543.43</c:v>
                </c:pt>
                <c:pt idx="1">
                  <c:v>25320.05</c:v>
                </c:pt>
                <c:pt idx="2">
                  <c:v>32888.68</c:v>
                </c:pt>
                <c:pt idx="3">
                  <c:v>39159.33</c:v>
                </c:pt>
                <c:pt idx="4">
                  <c:v>28667.78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Transaction Count (scaled)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E8A9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96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17314</c:v>
                </c:pt>
                <c:pt idx="1">
                  <c:v>16359</c:v>
                </c:pt>
                <c:pt idx="2">
                  <c:v>21229</c:v>
                </c:pt>
                <c:pt idx="3">
                  <c:v>25335</c:v>
                </c:pt>
                <c:pt idx="4">
                  <c:v>19763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7B4A2D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0"/>
            <a:ext cx="228600" cy="51435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4" name="Shape 2"/>
          <p:cNvSpPr/>
          <p:nvPr/>
        </p:nvSpPr>
        <p:spPr>
          <a:xfrm>
            <a:off x="6537960" y="1097280"/>
            <a:ext cx="502920" cy="201168"/>
          </a:xfrm>
          <a:prstGeom prst="ellipse">
            <a:avLst/>
          </a:prstGeom>
          <a:solidFill>
            <a:srgbClr val="2C1A0E"/>
          </a:solidFill>
          <a:ln/>
        </p:spPr>
      </p:sp>
      <p:sp>
        <p:nvSpPr>
          <p:cNvPr id="5" name="Shape 3"/>
          <p:cNvSpPr/>
          <p:nvPr/>
        </p:nvSpPr>
        <p:spPr>
          <a:xfrm>
            <a:off x="6537960" y="1298448"/>
            <a:ext cx="502920" cy="6400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901952"/>
            <a:ext cx="594360" cy="146304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097280"/>
            <a:ext cx="502920" cy="201168"/>
          </a:xfrm>
          <a:prstGeom prst="ellipse">
            <a:avLst/>
          </a:prstGeom>
          <a:solidFill>
            <a:srgbClr val="2C1A0E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1298448"/>
            <a:ext cx="502920" cy="6400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9" name="Shape 7"/>
          <p:cNvSpPr/>
          <p:nvPr/>
        </p:nvSpPr>
        <p:spPr>
          <a:xfrm>
            <a:off x="7086600" y="1901952"/>
            <a:ext cx="594360" cy="146304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10" name="Shape 8"/>
          <p:cNvSpPr/>
          <p:nvPr/>
        </p:nvSpPr>
        <p:spPr>
          <a:xfrm>
            <a:off x="7726680" y="1097280"/>
            <a:ext cx="502920" cy="201168"/>
          </a:xfrm>
          <a:prstGeom prst="ellipse">
            <a:avLst/>
          </a:prstGeom>
          <a:solidFill>
            <a:srgbClr val="2C1A0E"/>
          </a:solidFill>
          <a:ln/>
        </p:spPr>
      </p:sp>
      <p:sp>
        <p:nvSpPr>
          <p:cNvPr id="11" name="Shape 9"/>
          <p:cNvSpPr/>
          <p:nvPr/>
        </p:nvSpPr>
        <p:spPr>
          <a:xfrm>
            <a:off x="7726680" y="1298448"/>
            <a:ext cx="502920" cy="64008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12" name="Shape 10"/>
          <p:cNvSpPr/>
          <p:nvPr/>
        </p:nvSpPr>
        <p:spPr>
          <a:xfrm>
            <a:off x="7680960" y="1901952"/>
            <a:ext cx="594360" cy="146304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822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548640" y="15087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SHOP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304288"/>
            <a:ext cx="2286000" cy="4572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8716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Briefing  •  Jan – May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Data Analytics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00584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R466,554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May across 3 stores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64008" cy="100584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005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7752" y="12070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87752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R3.21 per transaction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81144" y="9144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144" y="914400"/>
            <a:ext cx="64008" cy="100584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18304" y="1005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Product Type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18304" y="12070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18304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R60,677  •  14.1% revenue share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11696" y="91440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11696" y="914400"/>
            <a:ext cx="64008" cy="100584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10058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 Slot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48856" y="12070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48856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 of daily revenue</a:t>
            </a:r>
            <a:endParaRPr lang="en-US" sz="8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2148840"/>
          <a:ext cx="53035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897880" y="2148840"/>
          <a:ext cx="29260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4A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GENERATE THE MOST REVENUE?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2296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8686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80760" y="868680"/>
            <a:ext cx="64008" cy="109728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960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11612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217920" y="1527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R60,677  |  14.1% share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80760" y="21945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2194560"/>
            <a:ext cx="64008" cy="109728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Avg/Txn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24871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Beans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7920" y="2852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R35.48 per transaction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80760" y="35204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520440"/>
            <a:ext cx="64008" cy="109728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King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0" y="3813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Chai Tea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17920" y="41788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17,560 units sold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QUANTITY BY PRODUCT CATEGORY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22960"/>
          <a:ext cx="4114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822960"/>
          <a:ext cx="4251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BRIGHT COFFEE PERFORM BEST?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22960"/>
          <a:ext cx="4114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8686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868680"/>
            <a:ext cx="64008" cy="9144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7" name="Text 4"/>
          <p:cNvSpPr/>
          <p:nvPr/>
        </p:nvSpPr>
        <p:spPr>
          <a:xfrm>
            <a:off x="4800600" y="914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Morning (6–12)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00600" y="1170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R112,002  •  24.0%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00600" y="1389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transaction: R3.26/txn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1892808"/>
            <a:ext cx="4114800" cy="914400"/>
          </a:xfrm>
          <a:prstGeom prst="rect">
            <a:avLst/>
          </a:prstGeom>
          <a:solidFill>
            <a:srgbClr val="C47A3A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892808"/>
            <a:ext cx="64008" cy="9144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12" name="Text 9"/>
          <p:cNvSpPr/>
          <p:nvPr/>
        </p:nvSpPr>
        <p:spPr>
          <a:xfrm>
            <a:off x="4800600" y="19385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🕛 Mid-Day (12–15)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2194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R146,363  •  31.4% ★ PEAK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00600" y="2414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transaction: R3.33/txn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2916936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2916936"/>
            <a:ext cx="64008" cy="9144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Afternoon (15–18)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0600" y="3218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R137,239  •  29.4%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00600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transaction: R3.21/txn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3941064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3941064"/>
            <a:ext cx="64008" cy="9144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Evening (18–22)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4242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R70,959  •  15.2% ⚠ SLOW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00600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transaction: R3.21/txn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4A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TRENDS &amp; TRANSACTION VOLUME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2296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760720" y="822960"/>
          <a:ext cx="30632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20040" y="3429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3822192"/>
            <a:ext cx="256032" cy="256032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58368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was the strongest month — R118,941 (+20% vs Mar)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" y="4352544"/>
            <a:ext cx="256032" cy="256032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11" name="Text 7"/>
          <p:cNvSpPr/>
          <p:nvPr/>
        </p:nvSpPr>
        <p:spPr>
          <a:xfrm>
            <a:off x="32004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58368" y="43525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was slowest — R76,145 — likely seasonal dip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709160" y="3822192"/>
            <a:ext cx="256032" cy="256032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14" name="Text 10"/>
          <p:cNvSpPr/>
          <p:nvPr/>
        </p:nvSpPr>
        <p:spPr>
          <a:xfrm>
            <a:off x="470916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47488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stores track closely; Hell's Kitchen leads slightly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709160" y="4352544"/>
            <a:ext cx="256032" cy="256032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17" name="Text 13"/>
          <p:cNvSpPr/>
          <p:nvPr/>
        </p:nvSpPr>
        <p:spPr>
          <a:xfrm>
            <a:off x="4709160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047488" y="43525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dipped after April surge — possible campaign opportunity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PRODUCT DETAILS — DASHBOARD VIEW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406908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097280"/>
                <a:gridCol w="1371600"/>
                <a:gridCol w="1097280"/>
              </a:tblGrid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Detail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Qty Sold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Unit Price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Share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Dark chocolate Lg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R14,198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3,155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R4.50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6.9%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Sustainably Grown Organic Lg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R14,089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2,966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R4.75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6.8%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Latte Rg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R12,631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2,972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R4.25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6.1%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Cappuccino Lg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R11,807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2,778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R4.25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5.7%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Latte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R11,513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3,070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R3.75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5.6%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Morning Sunrise Chai Lg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R11,508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2,877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R4.00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5.6%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Sustainably Grown Organic Rg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R11,014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2,937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R3.75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5.3%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Jamaican Coffee River Lg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R10,999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2,933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R3.75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5.3%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Cappuccino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R10,624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2,833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R3.75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5.1%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Brazilian Lg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R10,129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2,894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R3.50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4A4A"/>
                          </a:solidFill>
                        </a:rPr>
                        <a:t>4.9%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5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THE CEO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371600"/>
          </a:xfrm>
          <a:prstGeom prst="rect">
            <a:avLst/>
          </a:prstGeom>
          <a:solidFill>
            <a:srgbClr val="1E0F07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3716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78408"/>
            <a:ext cx="320040" cy="320040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78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Evening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contributes only 15.2% of daily sales. Launch happy-hour promotions (5–7 PM), loyalty point multipliers, and 'Wind Down' combo deals to lift this slot.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1371600"/>
          </a:xfrm>
          <a:prstGeom prst="rect">
            <a:avLst/>
          </a:prstGeom>
          <a:solidFill>
            <a:srgbClr val="1E0F07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64008" cy="13716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978408"/>
            <a:ext cx="320040" cy="320040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78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5232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Espresso &amp; Chai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30759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 (#1, R60K) and Brewed Chai Tea (#2, R51K) together account for 26% of revenue. Expand variations, seasonal flavours, and upsell pairings.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350008"/>
            <a:ext cx="4114800" cy="1371600"/>
          </a:xfrm>
          <a:prstGeom prst="rect">
            <a:avLst/>
          </a:prstGeom>
          <a:solidFill>
            <a:srgbClr val="1E0F07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50008"/>
            <a:ext cx="64008" cy="13716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459736"/>
            <a:ext cx="320040" cy="320040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" y="2441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Recovery Campaign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is consistently the weakest month (-7% vs Jan). Pre-plan a Valentine's/winter campaign with limited-edition drinks to close the gap.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350008"/>
            <a:ext cx="4114800" cy="1371600"/>
          </a:xfrm>
          <a:prstGeom prst="rect">
            <a:avLst/>
          </a:prstGeom>
          <a:solidFill>
            <a:srgbClr val="1E0F07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350008"/>
            <a:ext cx="64008" cy="13716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459736"/>
            <a:ext cx="320040" cy="320040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85232" y="2441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Underperforming Categories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7889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Chocolate, Loose Tea, and Branded items together make up &lt;1% of revenue. Bundle with top sellers or run targeted promotions to increase visibility.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831336"/>
            <a:ext cx="4114800" cy="1371600"/>
          </a:xfrm>
          <a:prstGeom prst="rect">
            <a:avLst/>
          </a:prstGeom>
          <a:solidFill>
            <a:srgbClr val="1E0F07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31336"/>
            <a:ext cx="64008" cy="13716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941064"/>
            <a:ext cx="320040" cy="320040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" y="3922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 on Mid-Day Peak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2702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 drives 31.4% of revenue. Introduce express lunch combos and pre-order mobile deals to reduce queue time and capture more customers during the rush.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831336"/>
            <a:ext cx="4114800" cy="1371600"/>
          </a:xfrm>
          <a:prstGeom prst="rect">
            <a:avLst/>
          </a:prstGeom>
          <a:solidFill>
            <a:srgbClr val="1E0F07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831336"/>
            <a:ext cx="64008" cy="13716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36" name="Shape 34"/>
          <p:cNvSpPr/>
          <p:nvPr/>
        </p:nvSpPr>
        <p:spPr>
          <a:xfrm>
            <a:off x="4892040" y="3941064"/>
            <a:ext cx="320040" cy="320040"/>
          </a:xfrm>
          <a:prstGeom prst="ellipse">
            <a:avLst/>
          </a:prstGeom>
          <a:solidFill>
            <a:srgbClr val="C47A3A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85232" y="3922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Surge Repeatability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27024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showed 20% revenue spike. Analyse what drove it (events, weather, promotions) and replicate those conditions in slower months.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7B4A2D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37160" cy="514350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097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2560320"/>
            <a:ext cx="2286000" cy="45720"/>
          </a:xfrm>
          <a:prstGeom prst="rect">
            <a:avLst/>
          </a:prstGeom>
          <a:solidFill>
            <a:srgbClr val="C47A3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Team  •  Bright Coffee Shop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822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R466,554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039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7523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R3.21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" y="3090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Txn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4655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" y="3803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 Peak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1788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" y="4517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Share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– CEO Sales Analysis</dc:title>
  <dc:subject>PptxGenJS Presentation</dc:subject>
  <dc:creator>PptxGenJS</dc:creator>
  <cp:lastModifiedBy>PptxGenJS</cp:lastModifiedBy>
  <cp:revision>1</cp:revision>
  <dcterms:created xsi:type="dcterms:W3CDTF">2026-03-29T19:21:04Z</dcterms:created>
  <dcterms:modified xsi:type="dcterms:W3CDTF">2026-03-29T19:21:04Z</dcterms:modified>
</cp:coreProperties>
</file>